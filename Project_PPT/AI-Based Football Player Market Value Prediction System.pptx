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Times New Roman MT Bold" charset="1" panose="02030802070405020303"/>
      <p:regular r:id="rId27"/>
    </p:embeddedFont>
    <p:embeddedFont>
      <p:font typeface="Times New Roman MT" charset="1" panose="020305020704050203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Relationship Id="rId4" Target="../media/VAG1gMDKYFY.mp4" Type="http://schemas.openxmlformats.org/officeDocument/2006/relationships/video"/><Relationship Id="rId5" Target="../media/VAG1gMDKYFY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74776" y="3305095"/>
            <a:ext cx="15138448" cy="183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9"/>
              </a:lnSpc>
            </a:pPr>
            <a:r>
              <a:rPr lang="en-US" b="true" sz="4544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DYNAMIC PLAYER TRANSFER VALUE PREDICTION USING AI AND MULTI-SOURCE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76" y="7315312"/>
            <a:ext cx="4507111" cy="91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691" spc="16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NAME: ABHAY RAJ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691" spc="16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DATE: 08 OCTOBER 2025</a:t>
            </a:r>
          </a:p>
        </p:txBody>
      </p:sp>
      <p:sp>
        <p:nvSpPr>
          <p:cNvPr name="AutoShape 5" id="5"/>
          <p:cNvSpPr/>
          <p:nvPr/>
        </p:nvSpPr>
        <p:spPr>
          <a:xfrm>
            <a:off x="1404133" y="5613260"/>
            <a:ext cx="15479734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-650985" y="2320789"/>
            <a:ext cx="1909135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23860" y="-1651611"/>
            <a:ext cx="6425517" cy="6425517"/>
            <a:chOff x="0" y="0"/>
            <a:chExt cx="8567356" cy="856735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8567356" cy="8567356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44219" lIns="44219" bIns="44219" rIns="44219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922037" y="922037"/>
              <a:ext cx="6723281" cy="672328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39578" t="0" r="-10233" b="0"/>
                </a:stretch>
              </a:blipFill>
            </p:spPr>
          </p:sp>
        </p:grpSp>
      </p:grpSp>
      <p:sp>
        <p:nvSpPr>
          <p:cNvPr name="TextBox 10" id="10"/>
          <p:cNvSpPr txBox="true"/>
          <p:nvPr/>
        </p:nvSpPr>
        <p:spPr>
          <a:xfrm rot="0">
            <a:off x="1028700" y="1114425"/>
            <a:ext cx="811530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9"/>
              </a:lnSpc>
            </a:pP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673" y="2967355"/>
            <a:ext cx="11485472" cy="581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976" indent="-345488" lvl="1">
              <a:lnSpc>
                <a:spcPts val="416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football transfer market involves billions of dollars and depends on factors like </a:t>
            </a: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player performance, age, injuries, and fan sentiment.</a:t>
            </a:r>
          </a:p>
          <a:p>
            <a:pPr algn="just" marL="690976" indent="-345488" lvl="1">
              <a:lnSpc>
                <a:spcPts val="416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Accurately predicting player transfer values is complex yet crucial for clubs, agents, and analysts.</a:t>
            </a:r>
          </a:p>
          <a:p>
            <a:pPr algn="just" marL="690976" indent="-345488" lvl="1">
              <a:lnSpc>
                <a:spcPts val="416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project develops an </a:t>
            </a: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AI-driven system</a:t>
            </a: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that uses multi-source data — </a:t>
            </a: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performance stats, sentiment scores, injuries, and market trends</a:t>
            </a: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— to predict player market value.</a:t>
            </a:r>
          </a:p>
          <a:p>
            <a:pPr algn="just" marL="690976" indent="-345488" lvl="1">
              <a:lnSpc>
                <a:spcPts val="416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By integrating machine learning, deep learning, and ensemble techniques, the project provides a dynamic, data-based valuation model.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799759" y="1561147"/>
            <a:ext cx="14688483" cy="8262271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483705" y="581978"/>
            <a:ext cx="7320589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9"/>
              </a:lnSpc>
            </a:pP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PROJECT DEMO</a:t>
            </a:r>
          </a:p>
        </p:txBody>
      </p:sp>
    </p:spTree>
  </p:cSld>
  <p:clrMapOvr>
    <a:masterClrMapping/>
  </p:clrMapOvr>
  <p:transition spd="slow">
    <p:push dir="l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04900"/>
            <a:ext cx="13046956" cy="951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6"/>
              </a:lnSpc>
            </a:pPr>
            <a:r>
              <a:rPr lang="en-US" sz="6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METHODOLOGY OVERVIEW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2107364"/>
            <a:ext cx="182880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4009430" y="-1111510"/>
            <a:ext cx="5721845" cy="5721845"/>
            <a:chOff x="0" y="0"/>
            <a:chExt cx="7629127" cy="762912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629127" cy="762912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840098" y="840098"/>
              <a:ext cx="5948931" cy="594893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3447" r="-17775" b="-53054"/>
                </a:stretch>
              </a:blipFill>
            </p:spPr>
          </p:sp>
        </p:grpSp>
      </p:grpSp>
      <p:sp>
        <p:nvSpPr>
          <p:cNvPr name="TextBox 11" id="11"/>
          <p:cNvSpPr txBox="true"/>
          <p:nvPr/>
        </p:nvSpPr>
        <p:spPr>
          <a:xfrm rot="0">
            <a:off x="1028700" y="2523266"/>
            <a:ext cx="11406544" cy="634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0"/>
              </a:lnSpc>
            </a:pPr>
            <a:r>
              <a:rPr lang="en-US" sz="3200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End-to-End Workflow:</a:t>
            </a:r>
          </a:p>
          <a:p>
            <a:pPr algn="just" marL="690881" indent="-345440" lvl="1">
              <a:lnSpc>
                <a:spcPts val="4160"/>
              </a:lnSpc>
              <a:spcBef>
                <a:spcPct val="0"/>
              </a:spcBef>
              <a:buAutoNum type="arabicPeriod" startAt="1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Collecti</a:t>
            </a: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 and Integration</a:t>
            </a:r>
          </a:p>
          <a:p>
            <a:pPr algn="just" marL="690881" indent="-345440" lvl="1">
              <a:lnSpc>
                <a:spcPts val="4160"/>
              </a:lnSpc>
              <a:spcBef>
                <a:spcPct val="0"/>
              </a:spcBef>
              <a:buAutoNum type="arabicPeriod" startAt="1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 Engineering (Performance, Sentiment, Injury)</a:t>
            </a:r>
          </a:p>
          <a:p>
            <a:pPr algn="just" marL="690881" indent="-345440" lvl="1">
              <a:lnSpc>
                <a:spcPts val="4160"/>
              </a:lnSpc>
              <a:spcBef>
                <a:spcPct val="0"/>
              </a:spcBef>
              <a:buAutoNum type="arabicPeriod" startAt="1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Development — LSTM, Encoder-Decoder, LightGBM</a:t>
            </a:r>
          </a:p>
          <a:p>
            <a:pPr algn="just" marL="690881" indent="-345440" lvl="1">
              <a:lnSpc>
                <a:spcPts val="4160"/>
              </a:lnSpc>
              <a:spcBef>
                <a:spcPct val="0"/>
              </a:spcBef>
              <a:buAutoNum type="arabicPeriod" startAt="1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Ensemble Integration</a:t>
            </a:r>
          </a:p>
          <a:p>
            <a:pPr algn="just" marL="690881" indent="-345440" lvl="1">
              <a:lnSpc>
                <a:spcPts val="4160"/>
              </a:lnSpc>
              <a:spcBef>
                <a:spcPct val="0"/>
              </a:spcBef>
              <a:buAutoNum type="arabicPeriod" startAt="1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Evaluation &amp; Hyperparameter Tuning</a:t>
            </a:r>
          </a:p>
          <a:p>
            <a:pPr algn="just" marL="690881" indent="-345440" lvl="1">
              <a:lnSpc>
                <a:spcPts val="4160"/>
              </a:lnSpc>
              <a:spcBef>
                <a:spcPct val="0"/>
              </a:spcBef>
              <a:buAutoNum type="arabicPeriod" startAt="1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Streamlit Frontend Deployment</a:t>
            </a:r>
          </a:p>
          <a:p>
            <a:pPr algn="just">
              <a:lnSpc>
                <a:spcPts val="4160"/>
              </a:lnSpc>
              <a:spcBef>
                <a:spcPct val="0"/>
              </a:spcBef>
            </a:pPr>
          </a:p>
          <a:p>
            <a:pPr algn="just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Tools Used:</a:t>
            </a:r>
          </a:p>
          <a:p>
            <a:pPr algn="just" marL="690881" indent="-345440" lvl="1">
              <a:lnSpc>
                <a:spcPts val="416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Python, TensorFlow/Keras, LightGBM, Scikit-learn</a:t>
            </a:r>
          </a:p>
          <a:p>
            <a:pPr algn="just" marL="690881" indent="-345440" lvl="1">
              <a:lnSpc>
                <a:spcPts val="416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Pandas, NumPy, Matplotlib, Seaborn</a:t>
            </a:r>
          </a:p>
          <a:p>
            <a:pPr algn="just" marL="690881" indent="-345440" lvl="1">
              <a:lnSpc>
                <a:spcPts val="416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Streamlit, Ngrok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831351"/>
            <a:ext cx="4046677" cy="5808186"/>
            <a:chOff x="0" y="0"/>
            <a:chExt cx="1267247" cy="18188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7247" cy="1818877"/>
            </a:xfrm>
            <a:custGeom>
              <a:avLst/>
              <a:gdLst/>
              <a:ahLst/>
              <a:cxnLst/>
              <a:rect r="r" b="b" t="t" l="l"/>
              <a:pathLst>
                <a:path h="1818877" w="1267247">
                  <a:moveTo>
                    <a:pt x="91831" y="0"/>
                  </a:moveTo>
                  <a:lnTo>
                    <a:pt x="1175415" y="0"/>
                  </a:lnTo>
                  <a:cubicBezTo>
                    <a:pt x="1226132" y="0"/>
                    <a:pt x="1267247" y="41114"/>
                    <a:pt x="1267247" y="91831"/>
                  </a:cubicBezTo>
                  <a:lnTo>
                    <a:pt x="1267247" y="1727045"/>
                  </a:lnTo>
                  <a:cubicBezTo>
                    <a:pt x="1267247" y="1777762"/>
                    <a:pt x="1226132" y="1818877"/>
                    <a:pt x="1175415" y="1818877"/>
                  </a:cubicBezTo>
                  <a:lnTo>
                    <a:pt x="91831" y="1818877"/>
                  </a:lnTo>
                  <a:cubicBezTo>
                    <a:pt x="41114" y="1818877"/>
                    <a:pt x="0" y="1777762"/>
                    <a:pt x="0" y="1727045"/>
                  </a:cubicBezTo>
                  <a:lnTo>
                    <a:pt x="0" y="91831"/>
                  </a:lnTo>
                  <a:cubicBezTo>
                    <a:pt x="0" y="41114"/>
                    <a:pt x="41114" y="0"/>
                    <a:pt x="9183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267247" cy="1837927"/>
            </a:xfrm>
            <a:prstGeom prst="rect">
              <a:avLst/>
            </a:prstGeom>
          </p:spPr>
          <p:txBody>
            <a:bodyPr anchor="ctr" rtlCol="false" tIns="42724" lIns="42724" bIns="42724" rIns="42724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10458" y="3918629"/>
            <a:ext cx="1530528" cy="631875"/>
          </a:xfrm>
          <a:custGeom>
            <a:avLst/>
            <a:gdLst/>
            <a:ahLst/>
            <a:cxnLst/>
            <a:rect r="r" b="b" t="t" l="l"/>
            <a:pathLst>
              <a:path h="631875" w="1530528">
                <a:moveTo>
                  <a:pt x="0" y="0"/>
                </a:moveTo>
                <a:lnTo>
                  <a:pt x="1530528" y="0"/>
                </a:lnTo>
                <a:lnTo>
                  <a:pt x="1530528" y="631874"/>
                </a:lnTo>
                <a:lnTo>
                  <a:pt x="0" y="631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0458" y="4889647"/>
            <a:ext cx="1530528" cy="631875"/>
          </a:xfrm>
          <a:custGeom>
            <a:avLst/>
            <a:gdLst/>
            <a:ahLst/>
            <a:cxnLst/>
            <a:rect r="r" b="b" t="t" l="l"/>
            <a:pathLst>
              <a:path h="631875" w="1530528">
                <a:moveTo>
                  <a:pt x="0" y="0"/>
                </a:moveTo>
                <a:lnTo>
                  <a:pt x="1530528" y="0"/>
                </a:lnTo>
                <a:lnTo>
                  <a:pt x="1530528" y="631875"/>
                </a:lnTo>
                <a:lnTo>
                  <a:pt x="0" y="631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0458" y="6072238"/>
            <a:ext cx="1589138" cy="656071"/>
          </a:xfrm>
          <a:custGeom>
            <a:avLst/>
            <a:gdLst/>
            <a:ahLst/>
            <a:cxnLst/>
            <a:rect r="r" b="b" t="t" l="l"/>
            <a:pathLst>
              <a:path h="656071" w="1589138">
                <a:moveTo>
                  <a:pt x="0" y="0"/>
                </a:moveTo>
                <a:lnTo>
                  <a:pt x="1589138" y="0"/>
                </a:lnTo>
                <a:lnTo>
                  <a:pt x="1589138" y="656072"/>
                </a:lnTo>
                <a:lnTo>
                  <a:pt x="0" y="656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0458" y="7045912"/>
            <a:ext cx="1589138" cy="656071"/>
          </a:xfrm>
          <a:custGeom>
            <a:avLst/>
            <a:gdLst/>
            <a:ahLst/>
            <a:cxnLst/>
            <a:rect r="r" b="b" t="t" l="l"/>
            <a:pathLst>
              <a:path h="656071" w="1589138">
                <a:moveTo>
                  <a:pt x="0" y="0"/>
                </a:moveTo>
                <a:lnTo>
                  <a:pt x="1589138" y="0"/>
                </a:lnTo>
                <a:lnTo>
                  <a:pt x="1589138" y="656072"/>
                </a:lnTo>
                <a:lnTo>
                  <a:pt x="0" y="656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52038" y="5521522"/>
            <a:ext cx="1580904" cy="652672"/>
          </a:xfrm>
          <a:custGeom>
            <a:avLst/>
            <a:gdLst/>
            <a:ahLst/>
            <a:cxnLst/>
            <a:rect r="r" b="b" t="t" l="l"/>
            <a:pathLst>
              <a:path h="652672" w="1580904">
                <a:moveTo>
                  <a:pt x="0" y="0"/>
                </a:moveTo>
                <a:lnTo>
                  <a:pt x="1580905" y="0"/>
                </a:lnTo>
                <a:lnTo>
                  <a:pt x="1580905" y="652672"/>
                </a:lnTo>
                <a:lnTo>
                  <a:pt x="0" y="6526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162791" y="4628437"/>
            <a:ext cx="8713578" cy="2623694"/>
            <a:chOff x="0" y="0"/>
            <a:chExt cx="2547119" cy="7669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7119" cy="766948"/>
            </a:xfrm>
            <a:custGeom>
              <a:avLst/>
              <a:gdLst/>
              <a:ahLst/>
              <a:cxnLst/>
              <a:rect r="r" b="b" t="t" l="l"/>
              <a:pathLst>
                <a:path h="766948" w="2547119">
                  <a:moveTo>
                    <a:pt x="42647" y="0"/>
                  </a:moveTo>
                  <a:lnTo>
                    <a:pt x="2504472" y="0"/>
                  </a:lnTo>
                  <a:cubicBezTo>
                    <a:pt x="2515782" y="0"/>
                    <a:pt x="2526630" y="4493"/>
                    <a:pt x="2534628" y="12491"/>
                  </a:cubicBezTo>
                  <a:cubicBezTo>
                    <a:pt x="2542626" y="20489"/>
                    <a:pt x="2547119" y="31337"/>
                    <a:pt x="2547119" y="42647"/>
                  </a:cubicBezTo>
                  <a:lnTo>
                    <a:pt x="2547119" y="724300"/>
                  </a:lnTo>
                  <a:cubicBezTo>
                    <a:pt x="2547119" y="747854"/>
                    <a:pt x="2528025" y="766948"/>
                    <a:pt x="2504472" y="766948"/>
                  </a:cubicBezTo>
                  <a:lnTo>
                    <a:pt x="42647" y="766948"/>
                  </a:lnTo>
                  <a:cubicBezTo>
                    <a:pt x="19094" y="766948"/>
                    <a:pt x="0" y="747854"/>
                    <a:pt x="0" y="724300"/>
                  </a:cubicBezTo>
                  <a:lnTo>
                    <a:pt x="0" y="42647"/>
                  </a:lnTo>
                  <a:cubicBezTo>
                    <a:pt x="0" y="19094"/>
                    <a:pt x="19094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547119" cy="785998"/>
            </a:xfrm>
            <a:prstGeom prst="rect">
              <a:avLst/>
            </a:prstGeom>
          </p:spPr>
          <p:txBody>
            <a:bodyPr anchor="ctr" rtlCol="false" tIns="45770" lIns="45770" bIns="45770" rIns="4577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814978" y="5596311"/>
            <a:ext cx="1615338" cy="666888"/>
          </a:xfrm>
          <a:custGeom>
            <a:avLst/>
            <a:gdLst/>
            <a:ahLst/>
            <a:cxnLst/>
            <a:rect r="r" b="b" t="t" l="l"/>
            <a:pathLst>
              <a:path h="666888" w="1615338">
                <a:moveTo>
                  <a:pt x="0" y="0"/>
                </a:moveTo>
                <a:lnTo>
                  <a:pt x="1615338" y="0"/>
                </a:lnTo>
                <a:lnTo>
                  <a:pt x="1615338" y="666888"/>
                </a:lnTo>
                <a:lnTo>
                  <a:pt x="0" y="666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945024" y="2831351"/>
            <a:ext cx="3727724" cy="5808186"/>
            <a:chOff x="0" y="0"/>
            <a:chExt cx="1322552" cy="20606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2552" cy="2060675"/>
            </a:xfrm>
            <a:custGeom>
              <a:avLst/>
              <a:gdLst/>
              <a:ahLst/>
              <a:cxnLst/>
              <a:rect r="r" b="b" t="t" l="l"/>
              <a:pathLst>
                <a:path h="2060675" w="1322552">
                  <a:moveTo>
                    <a:pt x="99689" y="0"/>
                  </a:moveTo>
                  <a:lnTo>
                    <a:pt x="1222863" y="0"/>
                  </a:lnTo>
                  <a:cubicBezTo>
                    <a:pt x="1277919" y="0"/>
                    <a:pt x="1322552" y="44632"/>
                    <a:pt x="1322552" y="99689"/>
                  </a:cubicBezTo>
                  <a:lnTo>
                    <a:pt x="1322552" y="1960986"/>
                  </a:lnTo>
                  <a:cubicBezTo>
                    <a:pt x="1322552" y="2016043"/>
                    <a:pt x="1277919" y="2060675"/>
                    <a:pt x="1222863" y="2060675"/>
                  </a:cubicBezTo>
                  <a:lnTo>
                    <a:pt x="99689" y="2060675"/>
                  </a:lnTo>
                  <a:cubicBezTo>
                    <a:pt x="44632" y="2060675"/>
                    <a:pt x="0" y="2016043"/>
                    <a:pt x="0" y="1960986"/>
                  </a:cubicBezTo>
                  <a:lnTo>
                    <a:pt x="0" y="99689"/>
                  </a:lnTo>
                  <a:cubicBezTo>
                    <a:pt x="0" y="44632"/>
                    <a:pt x="44632" y="0"/>
                    <a:pt x="99689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322552" cy="2079725"/>
            </a:xfrm>
            <a:prstGeom prst="rect">
              <a:avLst/>
            </a:prstGeom>
          </p:spPr>
          <p:txBody>
            <a:bodyPr anchor="ctr" rtlCol="false" tIns="37711" lIns="37711" bIns="37711" rIns="37711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343322" y="6880822"/>
            <a:ext cx="1490140" cy="615201"/>
          </a:xfrm>
          <a:custGeom>
            <a:avLst/>
            <a:gdLst/>
            <a:ahLst/>
            <a:cxnLst/>
            <a:rect r="r" b="b" t="t" l="l"/>
            <a:pathLst>
              <a:path h="615201" w="1490140">
                <a:moveTo>
                  <a:pt x="0" y="0"/>
                </a:moveTo>
                <a:lnTo>
                  <a:pt x="1490140" y="0"/>
                </a:lnTo>
                <a:lnTo>
                  <a:pt x="1490140" y="615201"/>
                </a:lnTo>
                <a:lnTo>
                  <a:pt x="0" y="615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317700" y="4373968"/>
            <a:ext cx="1515762" cy="625779"/>
          </a:xfrm>
          <a:custGeom>
            <a:avLst/>
            <a:gdLst/>
            <a:ahLst/>
            <a:cxnLst/>
            <a:rect r="r" b="b" t="t" l="l"/>
            <a:pathLst>
              <a:path h="625779" w="1515762">
                <a:moveTo>
                  <a:pt x="0" y="0"/>
                </a:moveTo>
                <a:lnTo>
                  <a:pt x="1515762" y="0"/>
                </a:lnTo>
                <a:lnTo>
                  <a:pt x="1515762" y="625779"/>
                </a:lnTo>
                <a:lnTo>
                  <a:pt x="0" y="625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325534" y="5622624"/>
            <a:ext cx="1538878" cy="635322"/>
          </a:xfrm>
          <a:custGeom>
            <a:avLst/>
            <a:gdLst/>
            <a:ahLst/>
            <a:cxnLst/>
            <a:rect r="r" b="b" t="t" l="l"/>
            <a:pathLst>
              <a:path h="635322" w="1538878">
                <a:moveTo>
                  <a:pt x="0" y="0"/>
                </a:moveTo>
                <a:lnTo>
                  <a:pt x="1538878" y="0"/>
                </a:lnTo>
                <a:lnTo>
                  <a:pt x="1538878" y="635322"/>
                </a:lnTo>
                <a:lnTo>
                  <a:pt x="0" y="635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>
            <a:off x="2794188" y="4181007"/>
            <a:ext cx="1334503" cy="12649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 flipV="true">
            <a:off x="2960005" y="6275012"/>
            <a:ext cx="1249750" cy="12380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>
            <a:off x="2810718" y="5116773"/>
            <a:ext cx="956600" cy="3291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 flipV="true">
            <a:off x="2960005" y="6257946"/>
            <a:ext cx="807313" cy="2080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>
            <a:off x="4677238" y="5907327"/>
            <a:ext cx="1137740" cy="224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7831449" y="5618055"/>
            <a:ext cx="1615338" cy="666888"/>
          </a:xfrm>
          <a:custGeom>
            <a:avLst/>
            <a:gdLst/>
            <a:ahLst/>
            <a:cxnLst/>
            <a:rect r="r" b="b" t="t" l="l"/>
            <a:pathLst>
              <a:path h="666888" w="1615338">
                <a:moveTo>
                  <a:pt x="0" y="0"/>
                </a:moveTo>
                <a:lnTo>
                  <a:pt x="1615338" y="0"/>
                </a:lnTo>
                <a:lnTo>
                  <a:pt x="1615338" y="666888"/>
                </a:lnTo>
                <a:lnTo>
                  <a:pt x="0" y="666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7" id="27"/>
          <p:cNvSpPr/>
          <p:nvPr/>
        </p:nvSpPr>
        <p:spPr>
          <a:xfrm flipV="true">
            <a:off x="7430429" y="5951499"/>
            <a:ext cx="401021" cy="26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9907994" y="5595626"/>
            <a:ext cx="1615338" cy="666888"/>
          </a:xfrm>
          <a:custGeom>
            <a:avLst/>
            <a:gdLst/>
            <a:ahLst/>
            <a:cxnLst/>
            <a:rect r="r" b="b" t="t" l="l"/>
            <a:pathLst>
              <a:path h="666888" w="1615338">
                <a:moveTo>
                  <a:pt x="0" y="0"/>
                </a:moveTo>
                <a:lnTo>
                  <a:pt x="1615339" y="0"/>
                </a:lnTo>
                <a:lnTo>
                  <a:pt x="1615339" y="666888"/>
                </a:lnTo>
                <a:lnTo>
                  <a:pt x="0" y="666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9" id="29"/>
          <p:cNvSpPr/>
          <p:nvPr/>
        </p:nvSpPr>
        <p:spPr>
          <a:xfrm flipV="true">
            <a:off x="9506974" y="5929070"/>
            <a:ext cx="401021" cy="26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1968961" y="5595626"/>
            <a:ext cx="1615338" cy="666888"/>
          </a:xfrm>
          <a:custGeom>
            <a:avLst/>
            <a:gdLst/>
            <a:ahLst/>
            <a:cxnLst/>
            <a:rect r="r" b="b" t="t" l="l"/>
            <a:pathLst>
              <a:path h="666888" w="1615338">
                <a:moveTo>
                  <a:pt x="0" y="0"/>
                </a:moveTo>
                <a:lnTo>
                  <a:pt x="1615338" y="0"/>
                </a:lnTo>
                <a:lnTo>
                  <a:pt x="1615338" y="666888"/>
                </a:lnTo>
                <a:lnTo>
                  <a:pt x="0" y="666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1" id="31"/>
          <p:cNvSpPr/>
          <p:nvPr/>
        </p:nvSpPr>
        <p:spPr>
          <a:xfrm>
            <a:off x="11523333" y="5929070"/>
            <a:ext cx="44562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 flipV="true">
            <a:off x="12776091" y="4373968"/>
            <a:ext cx="2299490" cy="10887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12825248" y="6362913"/>
            <a:ext cx="2263143" cy="113310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>
            <a:off x="15840969" y="4770934"/>
            <a:ext cx="621468" cy="8516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 flipV="true">
            <a:off x="15833462" y="6257946"/>
            <a:ext cx="628975" cy="9304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6" id="36"/>
          <p:cNvSpPr txBox="true"/>
          <p:nvPr/>
        </p:nvSpPr>
        <p:spPr>
          <a:xfrm rot="0">
            <a:off x="1358995" y="4031897"/>
            <a:ext cx="1238054" cy="32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2"/>
              </a:lnSpc>
              <a:spcBef>
                <a:spcPct val="0"/>
              </a:spcBef>
            </a:pPr>
            <a:r>
              <a:rPr lang="en-US" sz="180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Performance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1674" y="4979544"/>
            <a:ext cx="1752694" cy="48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  <a:spcBef>
                <a:spcPct val="0"/>
              </a:spcBef>
            </a:pPr>
            <a:r>
              <a:rPr lang="en-US" sz="144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Player Sentiment  Data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40677" y="6200796"/>
            <a:ext cx="474689" cy="32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2"/>
              </a:lnSpc>
              <a:spcBef>
                <a:spcPct val="0"/>
              </a:spcBef>
            </a:pPr>
            <a:r>
              <a:rPr lang="en-US" sz="180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03406" y="7171019"/>
            <a:ext cx="1149230" cy="32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2"/>
              </a:lnSpc>
              <a:spcBef>
                <a:spcPct val="0"/>
              </a:spcBef>
            </a:pPr>
            <a:r>
              <a:rPr lang="en-US" sz="180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Injury Data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104107" y="5519703"/>
            <a:ext cx="1476767" cy="58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7"/>
              </a:lnSpc>
              <a:spcBef>
                <a:spcPct val="0"/>
              </a:spcBef>
            </a:pPr>
            <a:r>
              <a:rPr lang="en-US" sz="166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Preprocessing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849306" y="5646742"/>
            <a:ext cx="1486780" cy="48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sz="145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Cleaned &amp; Preprocessed Data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898448" y="5783739"/>
            <a:ext cx="1462014" cy="32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2"/>
              </a:lnSpc>
              <a:spcBef>
                <a:spcPct val="0"/>
              </a:spcBef>
            </a:pPr>
            <a:r>
              <a:rPr lang="en-US" sz="180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LSTM Model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77362" y="5632267"/>
            <a:ext cx="1437780" cy="547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8"/>
              </a:lnSpc>
              <a:spcBef>
                <a:spcPct val="0"/>
              </a:spcBef>
            </a:pPr>
            <a:r>
              <a:rPr lang="en-US" sz="159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Hyperparameter Tuning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033043" y="5594495"/>
            <a:ext cx="1462014" cy="617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2"/>
              </a:lnSpc>
              <a:spcBef>
                <a:spcPct val="0"/>
              </a:spcBef>
            </a:pPr>
            <a:r>
              <a:rPr lang="en-US" sz="180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Time Series Prediction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604317" y="4493353"/>
            <a:ext cx="968149" cy="33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1"/>
              </a:lnSpc>
              <a:spcBef>
                <a:spcPct val="0"/>
              </a:spcBef>
            </a:pPr>
            <a:r>
              <a:rPr lang="en-US" sz="18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584475" y="6988762"/>
            <a:ext cx="1007834" cy="33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1"/>
              </a:lnSpc>
              <a:spcBef>
                <a:spcPct val="0"/>
              </a:spcBef>
            </a:pPr>
            <a:r>
              <a:rPr lang="en-US" sz="18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386440" y="5660039"/>
            <a:ext cx="1417066" cy="514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0"/>
              </a:lnSpc>
              <a:spcBef>
                <a:spcPct val="0"/>
              </a:spcBef>
            </a:pPr>
            <a:r>
              <a:rPr lang="en-US" sz="149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Final Transfer Value Prediction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954147" y="3470958"/>
            <a:ext cx="2011716" cy="32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2"/>
              </a:lnSpc>
              <a:spcBef>
                <a:spcPct val="0"/>
              </a:spcBef>
            </a:pPr>
            <a:r>
              <a:rPr lang="en-US" b="true" sz="180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INGESTION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723831" y="4914151"/>
            <a:ext cx="3273263" cy="32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2"/>
              </a:lnSpc>
              <a:spcBef>
                <a:spcPct val="0"/>
              </a:spcBef>
            </a:pPr>
            <a:r>
              <a:rPr lang="en-US" b="true" sz="180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TIME SERIES FORECASTING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469458" y="3352287"/>
            <a:ext cx="2678856" cy="310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1692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ENSEMBLE MODELLING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8700" y="828675"/>
            <a:ext cx="11953945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PROJECT ARCHITECTURE</a:t>
            </a:r>
          </a:p>
        </p:txBody>
      </p:sp>
      <p:sp>
        <p:nvSpPr>
          <p:cNvPr name="AutoShape 52" id="52"/>
          <p:cNvSpPr/>
          <p:nvPr/>
        </p:nvSpPr>
        <p:spPr>
          <a:xfrm>
            <a:off x="0" y="2107364"/>
            <a:ext cx="182880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-516589" y="2865120"/>
            <a:ext cx="1966561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114425"/>
            <a:ext cx="13325069" cy="175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9"/>
              </a:lnSpc>
            </a:pP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COLLECTION &amp; PREPROCESSING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599361" y="-1258346"/>
            <a:ext cx="6410511" cy="6410511"/>
            <a:chOff x="0" y="0"/>
            <a:chExt cx="8547349" cy="854734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547349" cy="8547349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37801" lIns="37801" bIns="37801" rIns="37801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941210" y="941210"/>
              <a:ext cx="6664929" cy="666492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24906" t="0" r="-24906" b="0"/>
                </a:stretch>
              </a:blipFill>
            </p:spPr>
          </p:sp>
        </p:grpSp>
      </p:grpSp>
      <p:sp>
        <p:nvSpPr>
          <p:cNvPr name="TextBox 11" id="11"/>
          <p:cNvSpPr txBox="true"/>
          <p:nvPr/>
        </p:nvSpPr>
        <p:spPr>
          <a:xfrm rot="0">
            <a:off x="1028700" y="3157367"/>
            <a:ext cx="11493512" cy="66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8"/>
              </a:lnSpc>
            </a:pPr>
            <a:r>
              <a:rPr lang="en-US" sz="3150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S</a:t>
            </a:r>
            <a:r>
              <a:rPr lang="en-US" b="true" sz="315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ources:</a:t>
            </a:r>
          </a:p>
          <a:p>
            <a:pPr algn="l" marL="680085" indent="-340042" lvl="1">
              <a:lnSpc>
                <a:spcPts val="3748"/>
              </a:lnSpc>
              <a:buFont typeface="Arial"/>
              <a:buChar char="•"/>
            </a:pPr>
            <a:r>
              <a:rPr lang="en-US" sz="31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Performance Data: StatsBomb Open Data(Kaggle)</a:t>
            </a:r>
          </a:p>
          <a:p>
            <a:pPr algn="l" marL="680085" indent="-340042" lvl="1">
              <a:lnSpc>
                <a:spcPts val="3748"/>
              </a:lnSpc>
              <a:buFont typeface="Arial"/>
              <a:buChar char="•"/>
            </a:pPr>
            <a:r>
              <a:rPr lang="en-US" sz="31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Market Value Data: Player-scores (Kaggle)</a:t>
            </a:r>
          </a:p>
          <a:p>
            <a:pPr algn="l" marL="680085" indent="-340042" lvl="1">
              <a:lnSpc>
                <a:spcPts val="3748"/>
              </a:lnSpc>
              <a:buFont typeface="Arial"/>
              <a:buChar char="•"/>
            </a:pPr>
            <a:r>
              <a:rPr lang="en-US" sz="31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Sentiment Data: Reddit posts using VADER sentiment analysis</a:t>
            </a:r>
          </a:p>
          <a:p>
            <a:pPr algn="l" marL="680085" indent="-340042" lvl="1">
              <a:lnSpc>
                <a:spcPts val="3748"/>
              </a:lnSpc>
              <a:buFont typeface="Arial"/>
              <a:buChar char="•"/>
            </a:pPr>
            <a:r>
              <a:rPr lang="en-US" sz="31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Injury Data: Historical player injury records(Kaggle)</a:t>
            </a:r>
          </a:p>
          <a:p>
            <a:pPr algn="l">
              <a:lnSpc>
                <a:spcPts val="3748"/>
              </a:lnSpc>
            </a:pPr>
          </a:p>
          <a:p>
            <a:pPr algn="l">
              <a:lnSpc>
                <a:spcPts val="3748"/>
              </a:lnSpc>
            </a:pPr>
            <a:r>
              <a:rPr lang="en-US" b="true" sz="315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Preprocessing Tasks:</a:t>
            </a:r>
          </a:p>
          <a:p>
            <a:pPr algn="l" marL="680085" indent="-340042" lvl="1">
              <a:lnSpc>
                <a:spcPts val="3748"/>
              </a:lnSpc>
              <a:buFont typeface="Arial"/>
              <a:buChar char="•"/>
            </a:pPr>
            <a:r>
              <a:rPr lang="en-US" sz="31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Cleaning missing/duplicate values</a:t>
            </a:r>
          </a:p>
          <a:p>
            <a:pPr algn="l" marL="680085" indent="-340042" lvl="1">
              <a:lnSpc>
                <a:spcPts val="3748"/>
              </a:lnSpc>
              <a:buFont typeface="Arial"/>
              <a:buChar char="•"/>
            </a:pPr>
            <a:r>
              <a:rPr lang="en-US" sz="31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 scaling and encoding categorical variables</a:t>
            </a:r>
          </a:p>
          <a:p>
            <a:pPr algn="l" marL="680085" indent="-340042" lvl="1">
              <a:lnSpc>
                <a:spcPts val="3748"/>
              </a:lnSpc>
              <a:buFont typeface="Arial"/>
              <a:buChar char="•"/>
            </a:pPr>
            <a:r>
              <a:rPr lang="en-US" sz="31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 engineering for:</a:t>
            </a:r>
          </a:p>
          <a:p>
            <a:pPr algn="l" marL="1360170" indent="-453390" lvl="2">
              <a:lnSpc>
                <a:spcPts val="3748"/>
              </a:lnSpc>
              <a:buFont typeface="Arial"/>
              <a:buChar char="⚬"/>
            </a:pPr>
            <a:r>
              <a:rPr lang="en-US" sz="31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Performance trends (e.g., goals, assists over time)</a:t>
            </a:r>
          </a:p>
          <a:p>
            <a:pPr algn="l" marL="1360170" indent="-453390" lvl="2">
              <a:lnSpc>
                <a:spcPts val="3748"/>
              </a:lnSpc>
              <a:buFont typeface="Arial"/>
              <a:buChar char="⚬"/>
            </a:pPr>
            <a:r>
              <a:rPr lang="en-US" sz="31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Injury frequency and severity</a:t>
            </a:r>
          </a:p>
          <a:p>
            <a:pPr algn="l" marL="1360170" indent="-453390" lvl="2">
              <a:lnSpc>
                <a:spcPts val="3748"/>
              </a:lnSpc>
              <a:buFont typeface="Arial"/>
              <a:buChar char="⚬"/>
            </a:pPr>
            <a:r>
              <a:rPr lang="en-US" sz="31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Social sentiment compound scores</a:t>
            </a:r>
          </a:p>
          <a:p>
            <a:pPr algn="l" marL="680085" indent="-340042" lvl="1">
              <a:lnSpc>
                <a:spcPts val="3748"/>
              </a:lnSpc>
              <a:buFont typeface="Arial"/>
              <a:buChar char="•"/>
            </a:pPr>
            <a:r>
              <a:rPr lang="en-US" sz="31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Resulted in a clean, merged dataset of over </a:t>
            </a:r>
            <a:r>
              <a:rPr lang="en-US" b="true" sz="315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20,000 rows.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14425"/>
            <a:ext cx="12646493" cy="1750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0"/>
              </a:lnSpc>
            </a:pPr>
            <a:r>
              <a:rPr lang="en-US" sz="7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DEVELOPMENT (LSTM SERIES)</a:t>
            </a:r>
          </a:p>
        </p:txBody>
      </p:sp>
      <p:sp>
        <p:nvSpPr>
          <p:cNvPr name="AutoShape 4" id="4"/>
          <p:cNvSpPr/>
          <p:nvPr/>
        </p:nvSpPr>
        <p:spPr>
          <a:xfrm>
            <a:off x="-498424" y="2869883"/>
            <a:ext cx="1829618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4197005" y="-1347409"/>
            <a:ext cx="5708274" cy="57082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9836" lIns="49836" bIns="49836" rIns="49836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825584" y="-718830"/>
            <a:ext cx="4451116" cy="445111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4906" t="0" r="-2490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3132666"/>
            <a:ext cx="13334089" cy="674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1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1. Univariate LSTM:</a:t>
            </a:r>
          </a:p>
          <a:p>
            <a:pPr algn="l" marL="674682" indent="-337341" lvl="1">
              <a:lnSpc>
                <a:spcPts val="4062"/>
              </a:lnSpc>
              <a:buFont typeface="Arial"/>
              <a:buChar char="•"/>
            </a:pPr>
            <a:r>
              <a:rPr lang="en-US" sz="31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only previous player market values.</a:t>
            </a:r>
          </a:p>
          <a:p>
            <a:pPr algn="l" marL="674682" indent="-337341" lvl="1">
              <a:lnSpc>
                <a:spcPts val="4062"/>
              </a:lnSpc>
              <a:buFont typeface="Arial"/>
              <a:buChar char="•"/>
            </a:pPr>
            <a:r>
              <a:rPr lang="en-US" sz="31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Captures temporal dependencies in historical data.</a:t>
            </a:r>
          </a:p>
          <a:p>
            <a:pPr algn="l">
              <a:lnSpc>
                <a:spcPts val="4062"/>
              </a:lnSpc>
            </a:pPr>
            <a:r>
              <a:rPr lang="en-US" sz="31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2. Multivariate LSTM:</a:t>
            </a:r>
          </a:p>
          <a:p>
            <a:pPr algn="l" marL="674682" indent="-337341" lvl="1">
              <a:lnSpc>
                <a:spcPts val="4062"/>
              </a:lnSpc>
              <a:spcBef>
                <a:spcPct val="0"/>
              </a:spcBef>
              <a:buFont typeface="Arial"/>
              <a:buChar char="•"/>
            </a:pPr>
            <a:r>
              <a:rPr lang="en-US" sz="31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Incorp</a:t>
            </a:r>
            <a:r>
              <a:rPr lang="en-US" sz="31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orates multiple input features: goals, assists, sentiment, injuries, etc.</a:t>
            </a:r>
          </a:p>
          <a:p>
            <a:pPr algn="l" marL="674682" indent="-337341" lvl="1">
              <a:lnSpc>
                <a:spcPts val="4062"/>
              </a:lnSpc>
              <a:spcBef>
                <a:spcPct val="0"/>
              </a:spcBef>
              <a:buFont typeface="Arial"/>
              <a:buChar char="•"/>
            </a:pPr>
            <a:r>
              <a:rPr lang="en-US" sz="31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Improved accuracy and generalization.</a:t>
            </a:r>
          </a:p>
          <a:p>
            <a:pPr algn="l">
              <a:lnSpc>
                <a:spcPts val="4062"/>
              </a:lnSpc>
              <a:spcBef>
                <a:spcPct val="0"/>
              </a:spcBef>
            </a:pPr>
            <a:r>
              <a:rPr lang="en-US" sz="31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3. Encoder-Decoder LSTM:</a:t>
            </a:r>
          </a:p>
          <a:p>
            <a:pPr algn="l" marL="674682" indent="-337341" lvl="1">
              <a:lnSpc>
                <a:spcPts val="4062"/>
              </a:lnSpc>
              <a:spcBef>
                <a:spcPct val="0"/>
              </a:spcBef>
              <a:buFont typeface="Arial"/>
              <a:buChar char="•"/>
            </a:pPr>
            <a:r>
              <a:rPr lang="en-US" sz="31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Multi-step forecasting (predicts next 3 transfer windows).</a:t>
            </a:r>
          </a:p>
          <a:p>
            <a:pPr algn="l" marL="674682" indent="-337341" lvl="1">
              <a:lnSpc>
                <a:spcPts val="4062"/>
              </a:lnSpc>
              <a:spcBef>
                <a:spcPct val="0"/>
              </a:spcBef>
              <a:buFont typeface="Arial"/>
              <a:buChar char="•"/>
            </a:pPr>
            <a:r>
              <a:rPr lang="en-US" sz="31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RepeatVector and TimeDistributed layers for sequence-to-sequence modeling.</a:t>
            </a:r>
          </a:p>
          <a:p>
            <a:pPr algn="l">
              <a:lnSpc>
                <a:spcPts val="4062"/>
              </a:lnSpc>
              <a:spcBef>
                <a:spcPct val="0"/>
              </a:spcBef>
            </a:pPr>
          </a:p>
          <a:p>
            <a:pPr algn="l">
              <a:lnSpc>
                <a:spcPts val="4062"/>
              </a:lnSpc>
              <a:spcBef>
                <a:spcPct val="0"/>
              </a:spcBef>
            </a:pPr>
            <a:r>
              <a:rPr lang="en-US" sz="31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Framework: </a:t>
            </a:r>
            <a:r>
              <a:rPr lang="en-US" b="true" sz="3124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TensorFlow/Keras</a:t>
            </a:r>
          </a:p>
          <a:p>
            <a:pPr algn="l">
              <a:lnSpc>
                <a:spcPts val="4062"/>
              </a:lnSpc>
              <a:spcBef>
                <a:spcPct val="0"/>
              </a:spcBef>
            </a:pPr>
            <a:r>
              <a:rPr lang="en-US" sz="31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Performance Range: </a:t>
            </a:r>
            <a:r>
              <a:rPr lang="en-US" b="true" sz="3124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RMSE ≈ 0.62–0.85</a:t>
            </a:r>
            <a:r>
              <a:rPr lang="en-US" sz="31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depending on prediction horizon.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79274"/>
            <a:ext cx="17072752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0"/>
              </a:lnSpc>
              <a:spcBef>
                <a:spcPct val="0"/>
              </a:spcBef>
            </a:pPr>
            <a:r>
              <a:rPr lang="en-US" sz="6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SCATTER PLOT (LSTM)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2107364"/>
            <a:ext cx="182880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2931580"/>
            <a:ext cx="15235799" cy="6326720"/>
            <a:chOff x="0" y="0"/>
            <a:chExt cx="20314399" cy="84356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33056" cy="8435627"/>
            </a:xfrm>
            <a:custGeom>
              <a:avLst/>
              <a:gdLst/>
              <a:ahLst/>
              <a:cxnLst/>
              <a:rect r="r" b="b" t="t" l="l"/>
              <a:pathLst>
                <a:path h="8435627" w="8633056">
                  <a:moveTo>
                    <a:pt x="0" y="0"/>
                  </a:moveTo>
                  <a:lnTo>
                    <a:pt x="8633056" y="0"/>
                  </a:lnTo>
                  <a:lnTo>
                    <a:pt x="8633056" y="8435627"/>
                  </a:lnTo>
                  <a:lnTo>
                    <a:pt x="0" y="8435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1932616" y="0"/>
              <a:ext cx="8381782" cy="8435627"/>
            </a:xfrm>
            <a:custGeom>
              <a:avLst/>
              <a:gdLst/>
              <a:ahLst/>
              <a:cxnLst/>
              <a:rect r="r" b="b" t="t" l="l"/>
              <a:pathLst>
                <a:path h="8435627" w="8381782">
                  <a:moveTo>
                    <a:pt x="0" y="0"/>
                  </a:moveTo>
                  <a:lnTo>
                    <a:pt x="8381783" y="0"/>
                  </a:lnTo>
                  <a:lnTo>
                    <a:pt x="8381783" y="8435627"/>
                  </a:lnTo>
                  <a:lnTo>
                    <a:pt x="0" y="8435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321822" y="2273439"/>
            <a:ext cx="1829618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020402" y="-1220273"/>
            <a:ext cx="5708274" cy="5708274"/>
            <a:chOff x="0" y="0"/>
            <a:chExt cx="7611032" cy="761103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611032" cy="7611032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49836" lIns="49836" bIns="49836" rIns="49836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838105" y="838105"/>
              <a:ext cx="5934822" cy="5934822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50093" t="0" r="0" b="0"/>
                </a:stretch>
              </a:blipFill>
            </p:spPr>
          </p:sp>
        </p:grpSp>
      </p:grpSp>
      <p:sp>
        <p:nvSpPr>
          <p:cNvPr name="TextBox 10" id="10"/>
          <p:cNvSpPr txBox="true"/>
          <p:nvPr/>
        </p:nvSpPr>
        <p:spPr>
          <a:xfrm rot="0">
            <a:off x="1028700" y="828675"/>
            <a:ext cx="8871823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</a:t>
            </a: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GHTGBM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619733"/>
            <a:ext cx="13483209" cy="723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1284" indent="-335642" lvl="1">
              <a:lnSpc>
                <a:spcPts val="3544"/>
              </a:lnSpc>
              <a:buFont typeface="Arial"/>
              <a:buChar char="•"/>
            </a:pPr>
            <a:r>
              <a:rPr lang="en-US" sz="31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Tree-based boosting model for regressi</a:t>
            </a:r>
            <a:r>
              <a:rPr lang="en-US" sz="31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on.</a:t>
            </a:r>
          </a:p>
          <a:p>
            <a:pPr algn="l" marL="671284" indent="-335642" lvl="1">
              <a:lnSpc>
                <a:spcPts val="3544"/>
              </a:lnSpc>
              <a:buFont typeface="Arial"/>
              <a:buChar char="•"/>
            </a:pPr>
            <a:r>
              <a:rPr lang="en-US" sz="31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Used as a baseline and later in ensemble combination.</a:t>
            </a:r>
          </a:p>
          <a:p>
            <a:pPr algn="l" marL="671284" indent="-335642" lvl="1">
              <a:lnSpc>
                <a:spcPts val="3544"/>
              </a:lnSpc>
              <a:buFont typeface="Arial"/>
              <a:buChar char="•"/>
            </a:pPr>
            <a:r>
              <a:rPr lang="en-US" sz="31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Efficient on tabular and high-dimensional data.</a:t>
            </a:r>
          </a:p>
          <a:p>
            <a:pPr algn="l">
              <a:lnSpc>
                <a:spcPts val="3544"/>
              </a:lnSpc>
            </a:pPr>
          </a:p>
          <a:p>
            <a:pPr algn="l">
              <a:lnSpc>
                <a:spcPts val="3544"/>
              </a:lnSpc>
            </a:pPr>
            <a:r>
              <a:rPr lang="en-US" b="true" sz="310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Performance:</a:t>
            </a:r>
          </a:p>
          <a:p>
            <a:pPr algn="l" marL="671284" indent="-335642" lvl="1">
              <a:lnSpc>
                <a:spcPts val="3544"/>
              </a:lnSpc>
              <a:buFont typeface="Arial"/>
              <a:buChar char="•"/>
            </a:pPr>
            <a:r>
              <a:rPr lang="en-US" sz="31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RMSE = 0.0105</a:t>
            </a:r>
          </a:p>
          <a:p>
            <a:pPr algn="l" marL="671284" indent="-335642" lvl="1">
              <a:lnSpc>
                <a:spcPts val="3544"/>
              </a:lnSpc>
              <a:buFont typeface="Arial"/>
              <a:buChar char="•"/>
            </a:pPr>
            <a:r>
              <a:rPr lang="en-US" sz="31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MAE = 0.0003</a:t>
            </a:r>
          </a:p>
          <a:p>
            <a:pPr algn="l" marL="671284" indent="-335642" lvl="1">
              <a:lnSpc>
                <a:spcPts val="3544"/>
              </a:lnSpc>
              <a:buFont typeface="Arial"/>
              <a:buChar char="•"/>
            </a:pPr>
            <a:r>
              <a:rPr lang="en-US" sz="31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Excellent consistency and fast training.</a:t>
            </a:r>
          </a:p>
          <a:p>
            <a:pPr algn="l">
              <a:lnSpc>
                <a:spcPts val="3544"/>
              </a:lnSpc>
            </a:pPr>
          </a:p>
          <a:p>
            <a:pPr algn="l">
              <a:lnSpc>
                <a:spcPts val="3544"/>
              </a:lnSpc>
            </a:pPr>
            <a:r>
              <a:rPr lang="en-US" b="true" sz="310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Feature Importance:</a:t>
            </a:r>
          </a:p>
          <a:p>
            <a:pPr algn="l" marL="671284" indent="-335642" lvl="1">
              <a:lnSpc>
                <a:spcPts val="3544"/>
              </a:lnSpc>
              <a:buFont typeface="Arial"/>
              <a:buChar char="•"/>
            </a:pPr>
            <a:r>
              <a:rPr lang="en-US" sz="31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Top contributors:</a:t>
            </a:r>
          </a:p>
          <a:p>
            <a:pPr algn="l" marL="1342569" indent="-447523" lvl="2">
              <a:lnSpc>
                <a:spcPts val="3544"/>
              </a:lnSpc>
              <a:buFont typeface="Arial"/>
              <a:buChar char="⚬"/>
            </a:pPr>
            <a:r>
              <a:rPr lang="en-US" sz="31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Total Minutes</a:t>
            </a:r>
          </a:p>
          <a:p>
            <a:pPr algn="l" marL="1342569" indent="-447523" lvl="2">
              <a:lnSpc>
                <a:spcPts val="3544"/>
              </a:lnSpc>
              <a:buFont typeface="Arial"/>
              <a:buChar char="⚬"/>
            </a:pPr>
            <a:r>
              <a:rPr lang="en-US" sz="31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Goals</a:t>
            </a:r>
          </a:p>
          <a:p>
            <a:pPr algn="l" marL="1342569" indent="-447523" lvl="2">
              <a:lnSpc>
                <a:spcPts val="3544"/>
              </a:lnSpc>
              <a:buFont typeface="Arial"/>
              <a:buChar char="⚬"/>
            </a:pPr>
            <a:r>
              <a:rPr lang="en-US" sz="31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Age</a:t>
            </a:r>
          </a:p>
          <a:p>
            <a:pPr algn="l" marL="1342569" indent="-447523" lvl="2">
              <a:lnSpc>
                <a:spcPts val="3544"/>
              </a:lnSpc>
              <a:buFont typeface="Arial"/>
              <a:buChar char="⚬"/>
            </a:pPr>
            <a:r>
              <a:rPr lang="en-US" sz="31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Injury Count</a:t>
            </a:r>
          </a:p>
          <a:p>
            <a:pPr algn="l" marL="1342569" indent="-447523" lvl="2">
              <a:lnSpc>
                <a:spcPts val="3544"/>
              </a:lnSpc>
              <a:buFont typeface="Arial"/>
              <a:buChar char="⚬"/>
            </a:pPr>
            <a:r>
              <a:rPr lang="en-US" sz="310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Reddit Sentiment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79274"/>
            <a:ext cx="17072752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0"/>
              </a:lnSpc>
              <a:spcBef>
                <a:spcPct val="0"/>
              </a:spcBef>
            </a:pPr>
            <a:r>
              <a:rPr lang="en-US" sz="6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 IMPORTANCE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2107364"/>
            <a:ext cx="182880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621771"/>
            <a:ext cx="9918214" cy="6737094"/>
          </a:xfrm>
          <a:custGeom>
            <a:avLst/>
            <a:gdLst/>
            <a:ahLst/>
            <a:cxnLst/>
            <a:rect r="r" b="b" t="t" l="l"/>
            <a:pathLst>
              <a:path h="6737094" w="9918214">
                <a:moveTo>
                  <a:pt x="0" y="0"/>
                </a:moveTo>
                <a:lnTo>
                  <a:pt x="9918214" y="0"/>
                </a:lnTo>
                <a:lnTo>
                  <a:pt x="9918214" y="6737094"/>
                </a:lnTo>
                <a:lnTo>
                  <a:pt x="0" y="67370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301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51384" y="2113664"/>
            <a:ext cx="18403782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051142" y="1028766"/>
            <a:ext cx="208158" cy="208158"/>
          </a:xfrm>
          <a:custGeom>
            <a:avLst/>
            <a:gdLst/>
            <a:ahLst/>
            <a:cxnLst/>
            <a:rect r="r" b="b" t="t" l="l"/>
            <a:pathLst>
              <a:path h="208158" w="208158">
                <a:moveTo>
                  <a:pt x="0" y="0"/>
                </a:moveTo>
                <a:lnTo>
                  <a:pt x="208158" y="0"/>
                </a:lnTo>
                <a:lnTo>
                  <a:pt x="208158" y="208158"/>
                </a:lnTo>
                <a:lnTo>
                  <a:pt x="0" y="208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29991" y="-1055713"/>
            <a:ext cx="5258619" cy="5258619"/>
            <a:chOff x="0" y="0"/>
            <a:chExt cx="7011492" cy="701149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011492" cy="7011492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0783" y="712492"/>
              <a:ext cx="5586507" cy="5586507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68075" t="0" r="-25118" b="-28715"/>
                </a:stretch>
              </a:blipFill>
            </p:spPr>
          </p:sp>
        </p:grpSp>
      </p:grpSp>
      <p:sp>
        <p:nvSpPr>
          <p:cNvPr name="TextBox 11" id="11"/>
          <p:cNvSpPr txBox="true"/>
          <p:nvPr/>
        </p:nvSpPr>
        <p:spPr>
          <a:xfrm rot="0">
            <a:off x="1028700" y="819216"/>
            <a:ext cx="1258373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ENSEMBLE M</a:t>
            </a:r>
            <a:r>
              <a:rPr lang="en-US" sz="7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ODEL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369243"/>
            <a:ext cx="13997804" cy="75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3"/>
              </a:lnSpc>
            </a:pPr>
            <a:r>
              <a:rPr lang="en-US" sz="2817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Purpose:</a:t>
            </a:r>
          </a:p>
          <a:p>
            <a:pPr algn="l">
              <a:lnSpc>
                <a:spcPts val="3493"/>
              </a:lnSpc>
            </a:pPr>
            <a:r>
              <a:rPr lang="en-US" sz="281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Combine predictions from LSTM, Encoder-Decoder, and LightGBM into one meta-model.</a:t>
            </a:r>
          </a:p>
          <a:p>
            <a:pPr algn="l">
              <a:lnSpc>
                <a:spcPts val="3493"/>
              </a:lnSpc>
            </a:pPr>
          </a:p>
          <a:p>
            <a:pPr algn="l">
              <a:lnSpc>
                <a:spcPts val="3493"/>
              </a:lnSpc>
            </a:pPr>
            <a:r>
              <a:rPr lang="en-US" sz="2817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Ensemble?</a:t>
            </a:r>
          </a:p>
          <a:p>
            <a:pPr algn="l">
              <a:lnSpc>
                <a:spcPts val="3493"/>
              </a:lnSpc>
            </a:pPr>
            <a:r>
              <a:rPr lang="en-US" sz="281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Each m</a:t>
            </a:r>
            <a:r>
              <a:rPr lang="en-US" sz="281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odel captures different aspects:</a:t>
            </a:r>
          </a:p>
          <a:p>
            <a:pPr algn="l" marL="608282" indent="-304141" lvl="1">
              <a:lnSpc>
                <a:spcPts val="3493"/>
              </a:lnSpc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LSTM → Sequential performance patterns</a:t>
            </a:r>
          </a:p>
          <a:p>
            <a:pPr algn="l" marL="608282" indent="-304141" lvl="1">
              <a:lnSpc>
                <a:spcPts val="3493"/>
              </a:lnSpc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LightGBM → Market and statistical interactions</a:t>
            </a:r>
          </a:p>
          <a:p>
            <a:pPr algn="l" marL="608282" indent="-304141" lvl="1">
              <a:lnSpc>
                <a:spcPts val="3493"/>
              </a:lnSpc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Encoder-Decoder → Multi-horizon trends</a:t>
            </a:r>
          </a:p>
          <a:p>
            <a:pPr algn="l">
              <a:lnSpc>
                <a:spcPts val="3493"/>
              </a:lnSpc>
            </a:pPr>
          </a:p>
          <a:p>
            <a:pPr algn="l">
              <a:lnSpc>
                <a:spcPts val="3493"/>
              </a:lnSpc>
            </a:pPr>
            <a:r>
              <a:rPr lang="en-US" b="true" sz="2817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Meta-Model:</a:t>
            </a:r>
          </a:p>
          <a:p>
            <a:pPr algn="l" marL="608282" indent="-304141" lvl="1">
              <a:lnSpc>
                <a:spcPts val="3493"/>
              </a:lnSpc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LightGBM trained on all model predictions.</a:t>
            </a:r>
          </a:p>
          <a:p>
            <a:pPr algn="l" marL="608282" indent="-304141" lvl="1">
              <a:lnSpc>
                <a:spcPts val="3493"/>
              </a:lnSpc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RMSE improved from</a:t>
            </a:r>
            <a:r>
              <a:rPr lang="en-US" b="true" sz="2817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0.63 (LSTM) → 0.29 (Ensemble)</a:t>
            </a:r>
          </a:p>
          <a:p>
            <a:pPr algn="l">
              <a:lnSpc>
                <a:spcPts val="3493"/>
              </a:lnSpc>
            </a:pPr>
          </a:p>
          <a:p>
            <a:pPr algn="l">
              <a:lnSpc>
                <a:spcPts val="3493"/>
              </a:lnSpc>
            </a:pPr>
            <a:r>
              <a:rPr lang="en-US" b="true" sz="2817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Final Ensemble Metrics:</a:t>
            </a:r>
          </a:p>
          <a:p>
            <a:pPr algn="l" marL="608282" indent="-304141" lvl="1">
              <a:lnSpc>
                <a:spcPts val="3493"/>
              </a:lnSpc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RMSE = </a:t>
            </a:r>
            <a:r>
              <a:rPr lang="en-US" b="true" sz="2817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0.2919</a:t>
            </a:r>
          </a:p>
          <a:p>
            <a:pPr algn="l" marL="608282" indent="-304141" lvl="1">
              <a:lnSpc>
                <a:spcPts val="3493"/>
              </a:lnSpc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MAE = </a:t>
            </a:r>
            <a:r>
              <a:rPr lang="en-US" b="true" sz="2817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0.0371</a:t>
            </a:r>
          </a:p>
          <a:p>
            <a:pPr algn="l" marL="608282" indent="-304141" lvl="1">
              <a:lnSpc>
                <a:spcPts val="3493"/>
              </a:lnSpc>
              <a:buFont typeface="Arial"/>
              <a:buChar char="•"/>
            </a:pPr>
            <a:r>
              <a:rPr lang="en-US" sz="2817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Accuracy ≈ </a:t>
            </a:r>
            <a:r>
              <a:rPr lang="en-US" b="true" sz="2817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98.6%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79274"/>
            <a:ext cx="16558636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0"/>
              </a:lnSpc>
              <a:spcBef>
                <a:spcPct val="0"/>
              </a:spcBef>
            </a:pPr>
            <a:r>
              <a:rPr lang="en-US" sz="6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 IMPORTANCE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2107364"/>
            <a:ext cx="182880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705523"/>
            <a:ext cx="10175555" cy="6717009"/>
          </a:xfrm>
          <a:custGeom>
            <a:avLst/>
            <a:gdLst/>
            <a:ahLst/>
            <a:cxnLst/>
            <a:rect r="r" b="b" t="t" l="l"/>
            <a:pathLst>
              <a:path h="6717009" w="10175555">
                <a:moveTo>
                  <a:pt x="0" y="0"/>
                </a:moveTo>
                <a:lnTo>
                  <a:pt x="10175555" y="0"/>
                </a:lnTo>
                <a:lnTo>
                  <a:pt x="10175555" y="6717009"/>
                </a:lnTo>
                <a:lnTo>
                  <a:pt x="0" y="6717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935484"/>
            <a:ext cx="19573624" cy="5114304"/>
            <a:chOff x="0" y="0"/>
            <a:chExt cx="26098165" cy="6819071"/>
          </a:xfrm>
        </p:grpSpPr>
        <p:sp>
          <p:nvSpPr>
            <p:cNvPr name="AutoShape 4" id="4"/>
            <p:cNvSpPr/>
            <p:nvPr/>
          </p:nvSpPr>
          <p:spPr>
            <a:xfrm>
              <a:off x="0" y="4097337"/>
              <a:ext cx="25687950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" id="5"/>
            <p:cNvGrpSpPr/>
            <p:nvPr/>
          </p:nvGrpSpPr>
          <p:grpSpPr>
            <a:xfrm rot="0">
              <a:off x="19279093" y="0"/>
              <a:ext cx="6819071" cy="6819071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9931467" y="692939"/>
              <a:ext cx="5433194" cy="5433194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24906" t="0" r="-24906" b="0"/>
                </a:stretch>
              </a:blipFill>
            </p:spPr>
          </p:sp>
        </p:grp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28700" y="4178820"/>
          <a:ext cx="13187228" cy="5446468"/>
        </p:xfrm>
        <a:graphic>
          <a:graphicData uri="http://schemas.openxmlformats.org/drawingml/2006/table">
            <a:tbl>
              <a:tblPr/>
              <a:tblGrid>
                <a:gridCol w="3296807"/>
                <a:gridCol w="3296807"/>
                <a:gridCol w="3296807"/>
                <a:gridCol w="3296807"/>
              </a:tblGrid>
              <a:tr h="11389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MAE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Comments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68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LSTM (Univariate)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0.6191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0.3798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Baseline sequence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68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LSTM (Multivariate)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0.6303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0.3938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Added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68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Encoder-Decoder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0.6417–0.8520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0.40–0.66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Multi-step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68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Ensemble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0.2919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0.0371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Best Overall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028700" y="828675"/>
            <a:ext cx="9677995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</a:t>
            </a: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ODEL EVALUATION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325405"/>
            <a:ext cx="5753208" cy="137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sz="269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Evaluation Metrics Used:</a:t>
            </a:r>
          </a:p>
          <a:p>
            <a:pPr algn="l" marL="582059" indent="-291029" lvl="1">
              <a:lnSpc>
                <a:spcPts val="3504"/>
              </a:lnSpc>
              <a:spcBef>
                <a:spcPct val="0"/>
              </a:spcBef>
              <a:buFont typeface="Arial"/>
              <a:buChar char="•"/>
            </a:pPr>
            <a:r>
              <a:rPr lang="en-US" sz="269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RMSE (R</a:t>
            </a:r>
            <a:r>
              <a:rPr lang="en-US" sz="269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oot Mean Squared Error)</a:t>
            </a:r>
          </a:p>
          <a:p>
            <a:pPr algn="l" marL="582059" indent="-291029" lvl="1">
              <a:lnSpc>
                <a:spcPts val="3504"/>
              </a:lnSpc>
              <a:spcBef>
                <a:spcPct val="0"/>
              </a:spcBef>
              <a:buFont typeface="Arial"/>
              <a:buChar char="•"/>
            </a:pPr>
            <a:r>
              <a:rPr lang="en-US" sz="269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MAE (Mean Absolute Error)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79274"/>
            <a:ext cx="16826871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0"/>
              </a:lnSpc>
              <a:spcBef>
                <a:spcPct val="0"/>
              </a:spcBef>
            </a:pPr>
            <a:r>
              <a:rPr lang="en-US" sz="6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PERFORMANCE COMPARISON(RMSE)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2107364"/>
            <a:ext cx="182880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515782"/>
            <a:ext cx="9460765" cy="6955237"/>
          </a:xfrm>
          <a:custGeom>
            <a:avLst/>
            <a:gdLst/>
            <a:ahLst/>
            <a:cxnLst/>
            <a:rect r="r" b="b" t="t" l="l"/>
            <a:pathLst>
              <a:path h="6955237" w="9460765">
                <a:moveTo>
                  <a:pt x="0" y="0"/>
                </a:moveTo>
                <a:lnTo>
                  <a:pt x="9460765" y="0"/>
                </a:lnTo>
                <a:lnTo>
                  <a:pt x="9460765" y="6955237"/>
                </a:lnTo>
                <a:lnTo>
                  <a:pt x="0" y="695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2054801"/>
            <a:ext cx="19265962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349567" y="-1045860"/>
            <a:ext cx="5114304" cy="51143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838847" y="-526156"/>
            <a:ext cx="4074895" cy="40748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3289" t="0" r="-45921" b="-739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826711"/>
            <a:ext cx="12857822" cy="121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0"/>
              </a:lnSpc>
              <a:spcBef>
                <a:spcPct val="0"/>
              </a:spcBef>
            </a:pPr>
            <a:r>
              <a:rPr lang="en-US" sz="67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HYPE</a:t>
            </a:r>
            <a:r>
              <a:rPr lang="en-US" sz="67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RPARAMETER TUNING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28700" y="4804408"/>
          <a:ext cx="12377612" cy="5174659"/>
        </p:xfrm>
        <a:graphic>
          <a:graphicData uri="http://schemas.openxmlformats.org/drawingml/2006/table">
            <a:tbl>
              <a:tblPr/>
              <a:tblGrid>
                <a:gridCol w="4125871"/>
                <a:gridCol w="4125871"/>
                <a:gridCol w="4125871"/>
              </a:tblGrid>
              <a:tr h="9787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Parameter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Best 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33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LightGBM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num_leaves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6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LightGBM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learning_rate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6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LSTM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lstm_units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6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LSTM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dropout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6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Ensemble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n_estimators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028700" y="2228892"/>
            <a:ext cx="8368070" cy="242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3200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Appr</a:t>
            </a: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oach:</a:t>
            </a:r>
          </a:p>
          <a:p>
            <a:pPr algn="l" marL="603064" indent="-301532" lvl="1">
              <a:lnSpc>
                <a:spcPts val="3212"/>
              </a:lnSpc>
              <a:buFont typeface="Arial"/>
              <a:buChar char="•"/>
            </a:pPr>
            <a:r>
              <a:rPr lang="en-US" sz="2793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Random search and grid search used across models.</a:t>
            </a:r>
          </a:p>
          <a:p>
            <a:pPr algn="l" marL="603064" indent="-301532" lvl="1">
              <a:lnSpc>
                <a:spcPts val="3212"/>
              </a:lnSpc>
              <a:buFont typeface="Arial"/>
              <a:buChar char="•"/>
            </a:pPr>
            <a:r>
              <a:rPr lang="en-US" sz="2793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Early stopping used to prevent overfitting.</a:t>
            </a:r>
          </a:p>
          <a:p>
            <a:pPr algn="l" marL="603064" indent="-301532" lvl="1">
              <a:lnSpc>
                <a:spcPts val="3212"/>
              </a:lnSpc>
              <a:buFont typeface="Arial"/>
              <a:buChar char="•"/>
            </a:pPr>
            <a:r>
              <a:rPr lang="en-US" sz="2793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Separate tuning for LSTM and Ensemble models.</a:t>
            </a:r>
          </a:p>
          <a:p>
            <a:pPr algn="l">
              <a:lnSpc>
                <a:spcPts val="1759"/>
              </a:lnSpc>
            </a:pPr>
          </a:p>
          <a:p>
            <a:pPr algn="l">
              <a:lnSpc>
                <a:spcPts val="36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Best Parameters: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79274"/>
            <a:ext cx="16558636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0"/>
              </a:lnSpc>
              <a:spcBef>
                <a:spcPct val="0"/>
              </a:spcBef>
            </a:pPr>
            <a:r>
              <a:rPr lang="en-US" sz="68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HYPERPARAMETER TUNING RESULT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2107364"/>
            <a:ext cx="182880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3055266"/>
            <a:ext cx="16558636" cy="5766504"/>
            <a:chOff x="0" y="0"/>
            <a:chExt cx="22078182" cy="7688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75640" cy="7688672"/>
            </a:xfrm>
            <a:custGeom>
              <a:avLst/>
              <a:gdLst/>
              <a:ahLst/>
              <a:cxnLst/>
              <a:rect r="r" b="b" t="t" l="l"/>
              <a:pathLst>
                <a:path h="7688672" w="7675640">
                  <a:moveTo>
                    <a:pt x="0" y="0"/>
                  </a:moveTo>
                  <a:lnTo>
                    <a:pt x="7675640" y="0"/>
                  </a:lnTo>
                  <a:lnTo>
                    <a:pt x="7675640" y="7688672"/>
                  </a:lnTo>
                  <a:lnTo>
                    <a:pt x="0" y="7688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8226834" y="0"/>
              <a:ext cx="13851348" cy="7688672"/>
            </a:xfrm>
            <a:custGeom>
              <a:avLst/>
              <a:gdLst/>
              <a:ahLst/>
              <a:cxnLst/>
              <a:rect r="r" b="b" t="t" l="l"/>
              <a:pathLst>
                <a:path h="7688672" w="13851348">
                  <a:moveTo>
                    <a:pt x="0" y="0"/>
                  </a:moveTo>
                  <a:lnTo>
                    <a:pt x="13851348" y="0"/>
                  </a:lnTo>
                  <a:lnTo>
                    <a:pt x="13851348" y="7688672"/>
                  </a:lnTo>
                  <a:lnTo>
                    <a:pt x="0" y="7688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98678" y="2049667"/>
            <a:ext cx="19265962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260642" y="-1023336"/>
            <a:ext cx="5114304" cy="51143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749923" y="-503632"/>
            <a:ext cx="4074895" cy="40748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40915" t="-11261" r="-26905" b="-54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828675"/>
            <a:ext cx="12222242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</a:t>
            </a: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REAMLIT DEPLOYMENT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393315"/>
            <a:ext cx="10608112" cy="686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Frontend Framework: Streamlit + Ngr</a:t>
            </a: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ok</a:t>
            </a:r>
          </a:p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Purpose: Interactive user interface for player value prediction.</a:t>
            </a:r>
          </a:p>
          <a:p>
            <a:pPr algn="l">
              <a:lnSpc>
                <a:spcPts val="4160"/>
              </a:lnSpc>
              <a:spcBef>
                <a:spcPct val="0"/>
              </a:spcBef>
            </a:pPr>
          </a:p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Features:</a:t>
            </a:r>
          </a:p>
          <a:p>
            <a:pPr algn="l" marL="690881" indent="-345440" lvl="1">
              <a:lnSpc>
                <a:spcPts val="416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Search for any player</a:t>
            </a:r>
          </a:p>
          <a:p>
            <a:pPr algn="l" marL="690881" indent="-345440" lvl="1">
              <a:lnSpc>
                <a:spcPts val="416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Displays predicted market value (in €)</a:t>
            </a:r>
          </a:p>
          <a:p>
            <a:pPr algn="l" marL="690881" indent="-345440" lvl="1">
              <a:lnSpc>
                <a:spcPts val="416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Shows actual value and prediction accuracy</a:t>
            </a:r>
          </a:p>
          <a:p>
            <a:pPr algn="l">
              <a:lnSpc>
                <a:spcPts val="4160"/>
              </a:lnSpc>
              <a:spcBef>
                <a:spcPct val="0"/>
              </a:spcBef>
            </a:pPr>
          </a:p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Example Output:</a:t>
            </a:r>
          </a:p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Player: Lionel Messi</a:t>
            </a:r>
          </a:p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Predicted Market Value: €34,536,027</a:t>
            </a:r>
          </a:p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Actual Market Value: €35,000,000</a:t>
            </a:r>
          </a:p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Prediction Accuracy: 98.67%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70948" y="607945"/>
            <a:ext cx="11746104" cy="9071110"/>
          </a:xfrm>
          <a:custGeom>
            <a:avLst/>
            <a:gdLst/>
            <a:ahLst/>
            <a:cxnLst/>
            <a:rect r="r" b="b" t="t" l="l"/>
            <a:pathLst>
              <a:path h="9071110" w="11746104">
                <a:moveTo>
                  <a:pt x="0" y="0"/>
                </a:moveTo>
                <a:lnTo>
                  <a:pt x="11746104" y="0"/>
                </a:lnTo>
                <a:lnTo>
                  <a:pt x="11746104" y="9071110"/>
                </a:lnTo>
                <a:lnTo>
                  <a:pt x="0" y="9071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117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98678" y="2049667"/>
            <a:ext cx="19265962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260642" y="-1023336"/>
            <a:ext cx="5114304" cy="51143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749923" y="-503632"/>
            <a:ext cx="4074895" cy="40748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7054" t="0" r="-23600" b="-690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828675"/>
            <a:ext cx="9670971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ESULTS &amp;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383790"/>
            <a:ext cx="11957814" cy="462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3488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Findings:</a:t>
            </a:r>
          </a:p>
          <a:p>
            <a:pPr algn="l" marL="753174" indent="-376587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48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Ensemble approach significantly impr</a:t>
            </a:r>
            <a:r>
              <a:rPr lang="en-US" sz="348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oved accuracy.</a:t>
            </a:r>
          </a:p>
          <a:p>
            <a:pPr algn="l" marL="753174" indent="-376587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48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Sentiment features positively influenced market value predictions.</a:t>
            </a:r>
          </a:p>
          <a:p>
            <a:pPr algn="l" marL="753174" indent="-376587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48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Encoder-Decoder LSTM helped capture longer-term value trends.</a:t>
            </a:r>
          </a:p>
          <a:p>
            <a:pPr algn="l" marL="753174" indent="-376587" lvl="1">
              <a:lnSpc>
                <a:spcPts val="4535"/>
              </a:lnSpc>
              <a:spcBef>
                <a:spcPct val="0"/>
              </a:spcBef>
              <a:buFont typeface="Arial"/>
              <a:buChar char="•"/>
            </a:pPr>
            <a:r>
              <a:rPr lang="en-US" sz="348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Lig</a:t>
            </a:r>
            <a:r>
              <a:rPr lang="en-US" sz="348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htGBM feature importance revealed “total minutes” and “goals” as most predictive.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98678" y="1954417"/>
            <a:ext cx="19265962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304793" y="-1169684"/>
            <a:ext cx="5114304" cy="51143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794073" y="-649979"/>
            <a:ext cx="4074895" cy="40748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50093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733425"/>
            <a:ext cx="6638046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</a:t>
            </a:r>
            <a:r>
              <a:rPr lang="en-US" sz="6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LUSION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137487"/>
            <a:ext cx="13276093" cy="696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Achievements:</a:t>
            </a:r>
          </a:p>
          <a:p>
            <a:pPr algn="l" marL="669289" indent="-334645" lvl="1">
              <a:lnSpc>
                <a:spcPts val="402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Built and trained multiple models (LSTM, Encoder-Decoder, LightGBM).</a:t>
            </a:r>
          </a:p>
          <a:p>
            <a:pPr algn="l" marL="669289" indent="-334645" lvl="1">
              <a:lnSpc>
                <a:spcPts val="402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Designed an integrat</a:t>
            </a:r>
            <a:r>
              <a:rPr lang="en-US" sz="30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ed ensemble meta-model.</a:t>
            </a:r>
          </a:p>
          <a:p>
            <a:pPr algn="l" marL="669289" indent="-334645" lvl="1">
              <a:lnSpc>
                <a:spcPts val="402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Created an interactive frontend for real-time player value prediction.</a:t>
            </a:r>
          </a:p>
          <a:p>
            <a:pPr algn="l" marL="669289" indent="-334645" lvl="1">
              <a:lnSpc>
                <a:spcPts val="402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0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chieved up to 98% accuracy in ensemble prediction.</a:t>
            </a:r>
          </a:p>
          <a:p>
            <a:pPr algn="l">
              <a:lnSpc>
                <a:spcPts val="4029"/>
              </a:lnSpc>
              <a:spcBef>
                <a:spcPct val="0"/>
              </a:spcBef>
            </a:pPr>
          </a:p>
          <a:p>
            <a:pPr algn="l">
              <a:lnSpc>
                <a:spcPts val="402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b="true" sz="30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Future Enhancements:</a:t>
            </a:r>
          </a:p>
          <a:p>
            <a:pPr algn="l" marL="669289" indent="-334645" lvl="1">
              <a:lnSpc>
                <a:spcPts val="402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Integrate live football data APIs (Opta, Sofascore).</a:t>
            </a:r>
          </a:p>
          <a:p>
            <a:pPr algn="l" marL="669289" indent="-334645" lvl="1">
              <a:lnSpc>
                <a:spcPts val="402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Predict real-time market fluctuations.</a:t>
            </a:r>
          </a:p>
          <a:p>
            <a:pPr algn="l" marL="669289" indent="-334645" lvl="1">
              <a:lnSpc>
                <a:spcPts val="402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Deploy permanently via Streamlit Cloud or AWS.</a:t>
            </a:r>
          </a:p>
          <a:p>
            <a:pPr algn="l">
              <a:lnSpc>
                <a:spcPts val="2727"/>
              </a:lnSpc>
            </a:pPr>
          </a:p>
          <a:p>
            <a:pPr algn="l">
              <a:lnSpc>
                <a:spcPts val="402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Final Note:</a:t>
            </a:r>
          </a:p>
          <a:p>
            <a:pPr algn="l">
              <a:lnSpc>
                <a:spcPts val="402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project demonstrates how artificial intelligence and data analytics can bring objectivity and precision into the football transfer market.</a:t>
            </a:r>
          </a:p>
        </p:txBody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69538" y="1869038"/>
            <a:ext cx="6548924" cy="65489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0" y="5143500"/>
            <a:ext cx="5869538" cy="1905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2416468" y="5181600"/>
            <a:ext cx="5871470" cy="19038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596051" y="4300525"/>
            <a:ext cx="5095898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5"/>
              </a:lnSpc>
            </a:pPr>
            <a:r>
              <a:rPr lang="en-US" sz="75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THANK YOU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DAG1Ije9PG0</dc:identifier>
  <dcterms:modified xsi:type="dcterms:W3CDTF">2011-08-01T06:04:30Z</dcterms:modified>
  <cp:revision>1</cp:revision>
  <dc:title>AI-Based Football Player Market Value Prediction System</dc:title>
</cp:coreProperties>
</file>